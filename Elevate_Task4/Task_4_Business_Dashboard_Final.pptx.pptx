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Calibri (MS) Bold" charset="1" panose="020F0702030404030204"/>
      <p:regular r:id="rId13"/>
    </p:embeddedFont>
    <p:embeddedFont>
      <p:font typeface="Calibri (MS)" charset="1" panose="020F0502020204030204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77773" y="390849"/>
            <a:ext cx="16289188" cy="661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602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Task 4: Business Performance Dashboard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5048" y="1223972"/>
            <a:ext cx="7366816" cy="7927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Prepared by: Kapil Kalirana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Internship: Elevate Labs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Tool: Tableau Public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5153670" y="1235402"/>
            <a:ext cx="12416536" cy="6980885"/>
            <a:chOff x="0" y="0"/>
            <a:chExt cx="11896496" cy="6688506"/>
          </a:xfrm>
        </p:grpSpPr>
        <p:sp>
          <p:nvSpPr>
            <p:cNvPr name="Freeform 5" id="5" descr="Screenshot (39).png"/>
            <p:cNvSpPr/>
            <p:nvPr/>
          </p:nvSpPr>
          <p:spPr>
            <a:xfrm flipH="false" flipV="false" rot="0">
              <a:off x="0" y="0"/>
              <a:ext cx="11896471" cy="6688455"/>
            </a:xfrm>
            <a:custGeom>
              <a:avLst/>
              <a:gdLst/>
              <a:ahLst/>
              <a:cxnLst/>
              <a:rect r="r" b="b" t="t" l="l"/>
              <a:pathLst>
                <a:path h="6688455" w="11896471">
                  <a:moveTo>
                    <a:pt x="0" y="0"/>
                  </a:moveTo>
                  <a:lnTo>
                    <a:pt x="11896471" y="0"/>
                  </a:lnTo>
                  <a:lnTo>
                    <a:pt x="11896471" y="6688455"/>
                  </a:lnTo>
                  <a:lnTo>
                    <a:pt x="0" y="66884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77773" y="390849"/>
            <a:ext cx="16289188" cy="661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602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Objective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5048" y="1147772"/>
            <a:ext cx="14353246" cy="6758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486"/>
              </a:lnSpc>
            </a:pPr>
            <a:r>
              <a:rPr lang="en-US" sz="623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Design an interactive dashboard for business stakeholders using Tableau.</a:t>
            </a:r>
          </a:p>
          <a:p>
            <a:pPr algn="just">
              <a:lnSpc>
                <a:spcPts val="7486"/>
              </a:lnSpc>
            </a:pPr>
          </a:p>
          <a:p>
            <a:pPr algn="just">
              <a:lnSpc>
                <a:spcPts val="7486"/>
              </a:lnSpc>
            </a:pPr>
            <a:r>
              <a:rPr lang="en-US" sz="623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 dashboard enables analysis of sales, profit, customers and regional performance through interactive charts, KPI cards and filters.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77773" y="390849"/>
            <a:ext cx="16289188" cy="661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602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Dataset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77773" y="1677029"/>
            <a:ext cx="7550338" cy="5680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2"/>
              </a:lnSpc>
            </a:pPr>
            <a:r>
              <a:rPr lang="en-US" sz="307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Dataset: Sample Superstore.csv</a:t>
            </a:r>
          </a:p>
          <a:p>
            <a:pPr algn="l">
              <a:lnSpc>
                <a:spcPts val="3692"/>
              </a:lnSpc>
            </a:pPr>
            <a:r>
              <a:rPr lang="en-US" sz="307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Rows: 9,994</a:t>
            </a:r>
          </a:p>
          <a:p>
            <a:pPr algn="l">
              <a:lnSpc>
                <a:spcPts val="3692"/>
              </a:lnSpc>
            </a:pPr>
            <a:r>
              <a:rPr lang="en-US" sz="307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Columns: 21</a:t>
            </a:r>
          </a:p>
          <a:p>
            <a:pPr algn="l">
              <a:lnSpc>
                <a:spcPts val="3692"/>
              </a:lnSpc>
            </a:pPr>
          </a:p>
          <a:p>
            <a:pPr algn="l">
              <a:lnSpc>
                <a:spcPts val="3692"/>
              </a:lnSpc>
            </a:pPr>
            <a:r>
              <a:rPr lang="en-US" sz="307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Key fields:</a:t>
            </a:r>
          </a:p>
          <a:p>
            <a:pPr algn="l">
              <a:lnSpc>
                <a:spcPts val="3692"/>
              </a:lnSpc>
            </a:pPr>
            <a:r>
              <a:rPr lang="en-US" sz="307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Order Date</a:t>
            </a:r>
          </a:p>
          <a:p>
            <a:pPr algn="l">
              <a:lnSpc>
                <a:spcPts val="3692"/>
              </a:lnSpc>
            </a:pPr>
            <a:r>
              <a:rPr lang="en-US" sz="307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Sales</a:t>
            </a:r>
          </a:p>
          <a:p>
            <a:pPr algn="l">
              <a:lnSpc>
                <a:spcPts val="3692"/>
              </a:lnSpc>
            </a:pPr>
            <a:r>
              <a:rPr lang="en-US" sz="307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Profit</a:t>
            </a:r>
          </a:p>
          <a:p>
            <a:pPr algn="l">
              <a:lnSpc>
                <a:spcPts val="3692"/>
              </a:lnSpc>
            </a:pPr>
            <a:r>
              <a:rPr lang="en-US" sz="307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Category</a:t>
            </a:r>
          </a:p>
          <a:p>
            <a:pPr algn="l">
              <a:lnSpc>
                <a:spcPts val="3692"/>
              </a:lnSpc>
            </a:pPr>
            <a:r>
              <a:rPr lang="en-US" sz="307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Region</a:t>
            </a:r>
          </a:p>
          <a:p>
            <a:pPr algn="l">
              <a:lnSpc>
                <a:spcPts val="3692"/>
              </a:lnSpc>
            </a:pPr>
            <a:r>
              <a:rPr lang="en-US" sz="307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Segment</a:t>
            </a:r>
          </a:p>
          <a:p>
            <a:pPr algn="l">
              <a:lnSpc>
                <a:spcPts val="3692"/>
              </a:lnSpc>
            </a:pPr>
            <a:r>
              <a:rPr lang="en-US" sz="307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Customer Name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940233" y="1098137"/>
            <a:ext cx="10355443" cy="5822090"/>
            <a:chOff x="0" y="0"/>
            <a:chExt cx="11347425" cy="6379807"/>
          </a:xfrm>
        </p:grpSpPr>
        <p:sp>
          <p:nvSpPr>
            <p:cNvPr name="Freeform 5" id="5" descr="Screenshot (30).png"/>
            <p:cNvSpPr/>
            <p:nvPr/>
          </p:nvSpPr>
          <p:spPr>
            <a:xfrm flipH="false" flipV="false" rot="0">
              <a:off x="0" y="0"/>
              <a:ext cx="11347450" cy="6379845"/>
            </a:xfrm>
            <a:custGeom>
              <a:avLst/>
              <a:gdLst/>
              <a:ahLst/>
              <a:cxnLst/>
              <a:rect r="r" b="b" t="t" l="l"/>
              <a:pathLst>
                <a:path h="6379845" w="11347450">
                  <a:moveTo>
                    <a:pt x="0" y="0"/>
                  </a:moveTo>
                  <a:lnTo>
                    <a:pt x="11347450" y="0"/>
                  </a:lnTo>
                  <a:lnTo>
                    <a:pt x="11347450" y="6379845"/>
                  </a:lnTo>
                  <a:lnTo>
                    <a:pt x="0" y="63798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77773" y="390849"/>
            <a:ext cx="16289188" cy="661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602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Dashboard Components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5048" y="1204922"/>
            <a:ext cx="8550029" cy="4586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59"/>
              </a:lnSpc>
            </a:pPr>
            <a:r>
              <a:rPr lang="en-US" sz="37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 dashboard contains:</a:t>
            </a:r>
          </a:p>
          <a:p>
            <a:pPr algn="l">
              <a:lnSpc>
                <a:spcPts val="4459"/>
              </a:lnSpc>
            </a:pPr>
            <a:r>
              <a:rPr lang="en-US" sz="37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Sales Trend</a:t>
            </a:r>
          </a:p>
          <a:p>
            <a:pPr algn="l">
              <a:lnSpc>
                <a:spcPts val="4459"/>
              </a:lnSpc>
            </a:pPr>
            <a:r>
              <a:rPr lang="en-US" sz="37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Profit by Category</a:t>
            </a:r>
          </a:p>
          <a:p>
            <a:pPr algn="l">
              <a:lnSpc>
                <a:spcPts val="4459"/>
              </a:lnSpc>
            </a:pPr>
            <a:r>
              <a:rPr lang="en-US" sz="37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Sales by Region</a:t>
            </a:r>
          </a:p>
          <a:p>
            <a:pPr algn="l">
              <a:lnSpc>
                <a:spcPts val="4459"/>
              </a:lnSpc>
            </a:pPr>
            <a:r>
              <a:rPr lang="en-US" sz="37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Top 10 Customers</a:t>
            </a:r>
          </a:p>
          <a:p>
            <a:pPr algn="l">
              <a:lnSpc>
                <a:spcPts val="4459"/>
              </a:lnSpc>
            </a:pPr>
            <a:r>
              <a:rPr lang="en-US" sz="37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Sales by Segment</a:t>
            </a:r>
          </a:p>
          <a:p>
            <a:pPr algn="l">
              <a:lnSpc>
                <a:spcPts val="4459"/>
              </a:lnSpc>
            </a:pPr>
            <a:r>
              <a:rPr lang="en-US" sz="37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KPI Cards</a:t>
            </a:r>
          </a:p>
          <a:p>
            <a:pPr algn="l">
              <a:lnSpc>
                <a:spcPts val="4459"/>
              </a:lnSpc>
            </a:pPr>
            <a:r>
              <a:rPr lang="en-US" sz="37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Interactive Filters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301299" y="991536"/>
            <a:ext cx="6410905" cy="3604367"/>
            <a:chOff x="0" y="0"/>
            <a:chExt cx="5490693" cy="3087002"/>
          </a:xfrm>
        </p:grpSpPr>
        <p:sp>
          <p:nvSpPr>
            <p:cNvPr name="Freeform 5" id="5" descr="Screenshot (31).png"/>
            <p:cNvSpPr/>
            <p:nvPr/>
          </p:nvSpPr>
          <p:spPr>
            <a:xfrm flipH="false" flipV="false" rot="0">
              <a:off x="0" y="0"/>
              <a:ext cx="5490718" cy="3086989"/>
            </a:xfrm>
            <a:custGeom>
              <a:avLst/>
              <a:gdLst/>
              <a:ahLst/>
              <a:cxnLst/>
              <a:rect r="r" b="b" t="t" l="l"/>
              <a:pathLst>
                <a:path h="3086989" w="5490718">
                  <a:moveTo>
                    <a:pt x="0" y="0"/>
                  </a:moveTo>
                  <a:lnTo>
                    <a:pt x="5490718" y="0"/>
                  </a:lnTo>
                  <a:lnTo>
                    <a:pt x="5490718" y="3086989"/>
                  </a:lnTo>
                  <a:lnTo>
                    <a:pt x="0" y="30869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301299" y="5262612"/>
            <a:ext cx="6410905" cy="3604375"/>
            <a:chOff x="0" y="0"/>
            <a:chExt cx="5856732" cy="3292805"/>
          </a:xfrm>
        </p:grpSpPr>
        <p:sp>
          <p:nvSpPr>
            <p:cNvPr name="Freeform 7" id="7" descr="Screenshot (32).png"/>
            <p:cNvSpPr/>
            <p:nvPr/>
          </p:nvSpPr>
          <p:spPr>
            <a:xfrm flipH="false" flipV="false" rot="0">
              <a:off x="0" y="0"/>
              <a:ext cx="5856732" cy="3292856"/>
            </a:xfrm>
            <a:custGeom>
              <a:avLst/>
              <a:gdLst/>
              <a:ahLst/>
              <a:cxnLst/>
              <a:rect r="r" b="b" t="t" l="l"/>
              <a:pathLst>
                <a:path h="3292856" w="5856732">
                  <a:moveTo>
                    <a:pt x="0" y="0"/>
                  </a:moveTo>
                  <a:lnTo>
                    <a:pt x="5856732" y="0"/>
                  </a:lnTo>
                  <a:lnTo>
                    <a:pt x="5856732" y="3292856"/>
                  </a:lnTo>
                  <a:lnTo>
                    <a:pt x="0" y="32928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77773" y="390849"/>
            <a:ext cx="16289188" cy="661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602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Final Interactive Dashboard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5048" y="1157297"/>
            <a:ext cx="5925476" cy="5991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23"/>
              </a:lnSpc>
            </a:pPr>
            <a:r>
              <a:rPr lang="en-US" sz="55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 completed dashboard provides a consolidated business view with interactive filters for Region, Category and Segment.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7961500" y="1098137"/>
            <a:ext cx="9608706" cy="5402256"/>
            <a:chOff x="0" y="0"/>
            <a:chExt cx="12811608" cy="7203008"/>
          </a:xfrm>
        </p:grpSpPr>
        <p:sp>
          <p:nvSpPr>
            <p:cNvPr name="Freeform 5" id="5" descr="Screenshot (39).png"/>
            <p:cNvSpPr/>
            <p:nvPr/>
          </p:nvSpPr>
          <p:spPr>
            <a:xfrm flipH="false" flipV="false" rot="0">
              <a:off x="0" y="0"/>
              <a:ext cx="12811633" cy="7203059"/>
            </a:xfrm>
            <a:custGeom>
              <a:avLst/>
              <a:gdLst/>
              <a:ahLst/>
              <a:cxnLst/>
              <a:rect r="r" b="b" t="t" l="l"/>
              <a:pathLst>
                <a:path h="7203059" w="12811633">
                  <a:moveTo>
                    <a:pt x="0" y="0"/>
                  </a:moveTo>
                  <a:lnTo>
                    <a:pt x="12811633" y="0"/>
                  </a:lnTo>
                  <a:lnTo>
                    <a:pt x="12811633" y="7203059"/>
                  </a:lnTo>
                  <a:lnTo>
                    <a:pt x="0" y="72030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77773" y="333699"/>
            <a:ext cx="16289188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63"/>
              </a:lnSpc>
            </a:pPr>
            <a:r>
              <a:rPr lang="en-US" sz="5802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Key Insights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77773" y="1583703"/>
            <a:ext cx="13247980" cy="6844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40"/>
              </a:lnSpc>
            </a:pPr>
            <a:r>
              <a:rPr lang="en-US" sz="553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Sales are higher towards the end of the year.</a:t>
            </a:r>
          </a:p>
          <a:p>
            <a:pPr algn="l">
              <a:lnSpc>
                <a:spcPts val="6640"/>
              </a:lnSpc>
            </a:pPr>
            <a:r>
              <a:rPr lang="en-US" sz="553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West region recorded the highest sales.</a:t>
            </a:r>
          </a:p>
          <a:p>
            <a:pPr algn="l">
              <a:lnSpc>
                <a:spcPts val="6640"/>
              </a:lnSpc>
            </a:pPr>
            <a:r>
              <a:rPr lang="en-US" sz="553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Technology is the most profitable category.</a:t>
            </a:r>
          </a:p>
          <a:p>
            <a:pPr algn="l">
              <a:lnSpc>
                <a:spcPts val="6640"/>
              </a:lnSpc>
            </a:pPr>
            <a:r>
              <a:rPr lang="en-US" sz="553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Consumer segment contributes the largest share of sales.</a:t>
            </a:r>
          </a:p>
          <a:p>
            <a:pPr algn="l">
              <a:lnSpc>
                <a:spcPts val="6640"/>
              </a:lnSpc>
            </a:pPr>
            <a:r>
              <a:rPr lang="en-US" sz="553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KPI cards summarise Total Sales, Profit and Orders.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77773" y="333699"/>
            <a:ext cx="16289188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3"/>
              </a:lnSpc>
            </a:pPr>
            <a:r>
              <a:rPr lang="en-US" sz="6002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Conclusion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71550" y="2091985"/>
            <a:ext cx="12713143" cy="13676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5"/>
              </a:lnSpc>
            </a:pPr>
            <a:r>
              <a:rPr lang="en-US" sz="466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An interactive Tableau dashboard was successfully developed using the Sample Superstore dataset.</a:t>
            </a:r>
          </a:p>
          <a:p>
            <a:pPr algn="l">
              <a:lnSpc>
                <a:spcPts val="5595"/>
              </a:lnSpc>
            </a:pPr>
          </a:p>
          <a:p>
            <a:pPr algn="l">
              <a:lnSpc>
                <a:spcPts val="5595"/>
              </a:lnSpc>
            </a:pPr>
            <a:r>
              <a:rPr lang="en-US" sz="466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 dashboard combines charts, KPI cards and filters to support business analysis and decision-making.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DAHQx--ZauE</dc:identifier>
  <dcterms:modified xsi:type="dcterms:W3CDTF">2011-08-01T06:04:30Z</dcterms:modified>
  <cp:revision>1</cp:revision>
  <dc:title>Task_4_Business_Dashboard_Final.pptx</dc:title>
</cp:coreProperties>
</file>